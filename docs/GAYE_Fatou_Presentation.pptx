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2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0" r:id="rId16"/>
  </p:sldIdLst>
  <p:sldSz cx="13031788" cy="7883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8C8C"/>
    <a:srgbClr val="001132"/>
    <a:srgbClr val="000F2E"/>
    <a:srgbClr val="EBDDE8"/>
    <a:srgbClr val="D76BC0"/>
    <a:srgbClr val="D8BED3"/>
    <a:srgbClr val="CAA6C3"/>
    <a:srgbClr val="AE7AA4"/>
    <a:srgbClr val="9C5E90"/>
    <a:srgbClr val="4C2E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3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8974" y="1290198"/>
            <a:ext cx="9773841" cy="2744635"/>
          </a:xfrm>
        </p:spPr>
        <p:txBody>
          <a:bodyPr anchor="b"/>
          <a:lstStyle>
            <a:lvl1pPr algn="ctr">
              <a:defRPr sz="641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8974" y="4140676"/>
            <a:ext cx="9773841" cy="1903360"/>
          </a:xfrm>
        </p:spPr>
        <p:txBody>
          <a:bodyPr/>
          <a:lstStyle>
            <a:lvl1pPr marL="0" indent="0" algn="ctr">
              <a:buNone/>
              <a:defRPr sz="2565"/>
            </a:lvl1pPr>
            <a:lvl2pPr marL="488701" indent="0" algn="ctr">
              <a:buNone/>
              <a:defRPr sz="2138"/>
            </a:lvl2pPr>
            <a:lvl3pPr marL="977402" indent="0" algn="ctr">
              <a:buNone/>
              <a:defRPr sz="1924"/>
            </a:lvl3pPr>
            <a:lvl4pPr marL="1466103" indent="0" algn="ctr">
              <a:buNone/>
              <a:defRPr sz="1710"/>
            </a:lvl4pPr>
            <a:lvl5pPr marL="1954804" indent="0" algn="ctr">
              <a:buNone/>
              <a:defRPr sz="1710"/>
            </a:lvl5pPr>
            <a:lvl6pPr marL="2443505" indent="0" algn="ctr">
              <a:buNone/>
              <a:defRPr sz="1710"/>
            </a:lvl6pPr>
            <a:lvl7pPr marL="2932206" indent="0" algn="ctr">
              <a:buNone/>
              <a:defRPr sz="1710"/>
            </a:lvl7pPr>
            <a:lvl8pPr marL="3420908" indent="0" algn="ctr">
              <a:buNone/>
              <a:defRPr sz="1710"/>
            </a:lvl8pPr>
            <a:lvl9pPr marL="3909609" indent="0" algn="ctr">
              <a:buNone/>
              <a:defRPr sz="171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6382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79720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148" y="1965408"/>
            <a:ext cx="11239917" cy="3279327"/>
          </a:xfrm>
        </p:spPr>
        <p:txBody>
          <a:bodyPr anchor="b"/>
          <a:lstStyle>
            <a:lvl1pPr>
              <a:defRPr sz="641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9148" y="5275758"/>
            <a:ext cx="11239917" cy="1724521"/>
          </a:xfrm>
        </p:spPr>
        <p:txBody>
          <a:bodyPr/>
          <a:lstStyle>
            <a:lvl1pPr marL="0" indent="0">
              <a:buNone/>
              <a:defRPr sz="2565">
                <a:solidFill>
                  <a:schemeClr val="tx1">
                    <a:tint val="75000"/>
                  </a:schemeClr>
                </a:solidFill>
              </a:defRPr>
            </a:lvl1pPr>
            <a:lvl2pPr marL="488701" indent="0">
              <a:buNone/>
              <a:defRPr sz="2138">
                <a:solidFill>
                  <a:schemeClr val="tx1">
                    <a:tint val="75000"/>
                  </a:schemeClr>
                </a:solidFill>
              </a:defRPr>
            </a:lvl2pPr>
            <a:lvl3pPr marL="977402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3pPr>
            <a:lvl4pPr marL="1466103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4pPr>
            <a:lvl5pPr marL="1954804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5pPr>
            <a:lvl6pPr marL="2443505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6pPr>
            <a:lvl7pPr marL="2932206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7pPr>
            <a:lvl8pPr marL="3420908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8pPr>
            <a:lvl9pPr marL="3909609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35810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5935" y="2098624"/>
            <a:ext cx="5538510" cy="50020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97343" y="2098624"/>
            <a:ext cx="5538510" cy="50020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89741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633" y="419725"/>
            <a:ext cx="11239917" cy="152378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7633" y="1932559"/>
            <a:ext cx="5513057" cy="947117"/>
          </a:xfrm>
        </p:spPr>
        <p:txBody>
          <a:bodyPr anchor="b"/>
          <a:lstStyle>
            <a:lvl1pPr marL="0" indent="0">
              <a:buNone/>
              <a:defRPr sz="2565" b="1"/>
            </a:lvl1pPr>
            <a:lvl2pPr marL="488701" indent="0">
              <a:buNone/>
              <a:defRPr sz="2138" b="1"/>
            </a:lvl2pPr>
            <a:lvl3pPr marL="977402" indent="0">
              <a:buNone/>
              <a:defRPr sz="1924" b="1"/>
            </a:lvl3pPr>
            <a:lvl4pPr marL="1466103" indent="0">
              <a:buNone/>
              <a:defRPr sz="1710" b="1"/>
            </a:lvl4pPr>
            <a:lvl5pPr marL="1954804" indent="0">
              <a:buNone/>
              <a:defRPr sz="1710" b="1"/>
            </a:lvl5pPr>
            <a:lvl6pPr marL="2443505" indent="0">
              <a:buNone/>
              <a:defRPr sz="1710" b="1"/>
            </a:lvl6pPr>
            <a:lvl7pPr marL="2932206" indent="0">
              <a:buNone/>
              <a:defRPr sz="1710" b="1"/>
            </a:lvl7pPr>
            <a:lvl8pPr marL="3420908" indent="0">
              <a:buNone/>
              <a:defRPr sz="1710" b="1"/>
            </a:lvl8pPr>
            <a:lvl9pPr marL="3909609" indent="0">
              <a:buNone/>
              <a:defRPr sz="171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7633" y="2879677"/>
            <a:ext cx="5513057" cy="423557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7343" y="1932559"/>
            <a:ext cx="5540207" cy="947117"/>
          </a:xfrm>
        </p:spPr>
        <p:txBody>
          <a:bodyPr anchor="b"/>
          <a:lstStyle>
            <a:lvl1pPr marL="0" indent="0">
              <a:buNone/>
              <a:defRPr sz="2565" b="1"/>
            </a:lvl1pPr>
            <a:lvl2pPr marL="488701" indent="0">
              <a:buNone/>
              <a:defRPr sz="2138" b="1"/>
            </a:lvl2pPr>
            <a:lvl3pPr marL="977402" indent="0">
              <a:buNone/>
              <a:defRPr sz="1924" b="1"/>
            </a:lvl3pPr>
            <a:lvl4pPr marL="1466103" indent="0">
              <a:buNone/>
              <a:defRPr sz="1710" b="1"/>
            </a:lvl4pPr>
            <a:lvl5pPr marL="1954804" indent="0">
              <a:buNone/>
              <a:defRPr sz="1710" b="1"/>
            </a:lvl5pPr>
            <a:lvl6pPr marL="2443505" indent="0">
              <a:buNone/>
              <a:defRPr sz="1710" b="1"/>
            </a:lvl6pPr>
            <a:lvl7pPr marL="2932206" indent="0">
              <a:buNone/>
              <a:defRPr sz="1710" b="1"/>
            </a:lvl7pPr>
            <a:lvl8pPr marL="3420908" indent="0">
              <a:buNone/>
              <a:defRPr sz="1710" b="1"/>
            </a:lvl8pPr>
            <a:lvl9pPr marL="3909609" indent="0">
              <a:buNone/>
              <a:defRPr sz="171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7343" y="2879677"/>
            <a:ext cx="5540207" cy="423557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48320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47530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7113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634" y="525568"/>
            <a:ext cx="4203090" cy="1839489"/>
          </a:xfrm>
        </p:spPr>
        <p:txBody>
          <a:bodyPr anchor="b"/>
          <a:lstStyle>
            <a:lvl1pPr>
              <a:defRPr sz="342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0207" y="1135082"/>
            <a:ext cx="6597343" cy="5602412"/>
          </a:xfrm>
        </p:spPr>
        <p:txBody>
          <a:bodyPr/>
          <a:lstStyle>
            <a:lvl1pPr>
              <a:defRPr sz="3420"/>
            </a:lvl1pPr>
            <a:lvl2pPr>
              <a:defRPr sz="2993"/>
            </a:lvl2pPr>
            <a:lvl3pPr>
              <a:defRPr sz="2565"/>
            </a:lvl3pPr>
            <a:lvl4pPr>
              <a:defRPr sz="2138"/>
            </a:lvl4pPr>
            <a:lvl5pPr>
              <a:defRPr sz="2138"/>
            </a:lvl5pPr>
            <a:lvl6pPr>
              <a:defRPr sz="2138"/>
            </a:lvl6pPr>
            <a:lvl7pPr>
              <a:defRPr sz="2138"/>
            </a:lvl7pPr>
            <a:lvl8pPr>
              <a:defRPr sz="2138"/>
            </a:lvl8pPr>
            <a:lvl9pPr>
              <a:defRPr sz="213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7634" y="2365057"/>
            <a:ext cx="4203090" cy="4381562"/>
          </a:xfrm>
        </p:spPr>
        <p:txBody>
          <a:bodyPr/>
          <a:lstStyle>
            <a:lvl1pPr marL="0" indent="0">
              <a:buNone/>
              <a:defRPr sz="1710"/>
            </a:lvl1pPr>
            <a:lvl2pPr marL="488701" indent="0">
              <a:buNone/>
              <a:defRPr sz="1496"/>
            </a:lvl2pPr>
            <a:lvl3pPr marL="977402" indent="0">
              <a:buNone/>
              <a:defRPr sz="1283"/>
            </a:lvl3pPr>
            <a:lvl4pPr marL="1466103" indent="0">
              <a:buNone/>
              <a:defRPr sz="1069"/>
            </a:lvl4pPr>
            <a:lvl5pPr marL="1954804" indent="0">
              <a:buNone/>
              <a:defRPr sz="1069"/>
            </a:lvl5pPr>
            <a:lvl6pPr marL="2443505" indent="0">
              <a:buNone/>
              <a:defRPr sz="1069"/>
            </a:lvl6pPr>
            <a:lvl7pPr marL="2932206" indent="0">
              <a:buNone/>
              <a:defRPr sz="1069"/>
            </a:lvl7pPr>
            <a:lvl8pPr marL="3420908" indent="0">
              <a:buNone/>
              <a:defRPr sz="1069"/>
            </a:lvl8pPr>
            <a:lvl9pPr marL="3909609" indent="0">
              <a:buNone/>
              <a:defRPr sz="10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34317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634" y="525568"/>
            <a:ext cx="4203090" cy="1839489"/>
          </a:xfrm>
        </p:spPr>
        <p:txBody>
          <a:bodyPr anchor="b"/>
          <a:lstStyle>
            <a:lvl1pPr>
              <a:defRPr sz="342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40207" y="1135082"/>
            <a:ext cx="6597343" cy="5602412"/>
          </a:xfrm>
        </p:spPr>
        <p:txBody>
          <a:bodyPr anchor="t"/>
          <a:lstStyle>
            <a:lvl1pPr marL="0" indent="0">
              <a:buNone/>
              <a:defRPr sz="3420"/>
            </a:lvl1pPr>
            <a:lvl2pPr marL="488701" indent="0">
              <a:buNone/>
              <a:defRPr sz="2993"/>
            </a:lvl2pPr>
            <a:lvl3pPr marL="977402" indent="0">
              <a:buNone/>
              <a:defRPr sz="2565"/>
            </a:lvl3pPr>
            <a:lvl4pPr marL="1466103" indent="0">
              <a:buNone/>
              <a:defRPr sz="2138"/>
            </a:lvl4pPr>
            <a:lvl5pPr marL="1954804" indent="0">
              <a:buNone/>
              <a:defRPr sz="2138"/>
            </a:lvl5pPr>
            <a:lvl6pPr marL="2443505" indent="0">
              <a:buNone/>
              <a:defRPr sz="2138"/>
            </a:lvl6pPr>
            <a:lvl7pPr marL="2932206" indent="0">
              <a:buNone/>
              <a:defRPr sz="2138"/>
            </a:lvl7pPr>
            <a:lvl8pPr marL="3420908" indent="0">
              <a:buNone/>
              <a:defRPr sz="2138"/>
            </a:lvl8pPr>
            <a:lvl9pPr marL="3909609" indent="0">
              <a:buNone/>
              <a:defRPr sz="2138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7634" y="2365057"/>
            <a:ext cx="4203090" cy="4381562"/>
          </a:xfrm>
        </p:spPr>
        <p:txBody>
          <a:bodyPr/>
          <a:lstStyle>
            <a:lvl1pPr marL="0" indent="0">
              <a:buNone/>
              <a:defRPr sz="1710"/>
            </a:lvl1pPr>
            <a:lvl2pPr marL="488701" indent="0">
              <a:buNone/>
              <a:defRPr sz="1496"/>
            </a:lvl2pPr>
            <a:lvl3pPr marL="977402" indent="0">
              <a:buNone/>
              <a:defRPr sz="1283"/>
            </a:lvl3pPr>
            <a:lvl4pPr marL="1466103" indent="0">
              <a:buNone/>
              <a:defRPr sz="1069"/>
            </a:lvl4pPr>
            <a:lvl5pPr marL="1954804" indent="0">
              <a:buNone/>
              <a:defRPr sz="1069"/>
            </a:lvl5pPr>
            <a:lvl6pPr marL="2443505" indent="0">
              <a:buNone/>
              <a:defRPr sz="1069"/>
            </a:lvl6pPr>
            <a:lvl7pPr marL="2932206" indent="0">
              <a:buNone/>
              <a:defRPr sz="1069"/>
            </a:lvl7pPr>
            <a:lvl8pPr marL="3420908" indent="0">
              <a:buNone/>
              <a:defRPr sz="1069"/>
            </a:lvl8pPr>
            <a:lvl9pPr marL="3909609" indent="0">
              <a:buNone/>
              <a:defRPr sz="10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56467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26602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25873" y="419725"/>
            <a:ext cx="2809979" cy="668092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5935" y="419725"/>
            <a:ext cx="8267041" cy="668092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2668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5936" y="419725"/>
            <a:ext cx="11239917" cy="1523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936" y="2098624"/>
            <a:ext cx="11239917" cy="5002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5936" y="7306860"/>
            <a:ext cx="2932152" cy="419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AEC52-D56F-455D-A80F-578189BA06B3}" type="datetimeFigureOut">
              <a:rPr lang="fr-SN" smtClean="0"/>
              <a:t>21/06/2026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16780" y="7306860"/>
            <a:ext cx="4398228" cy="419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3700" y="7306860"/>
            <a:ext cx="2932152" cy="419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190D3-F1DF-407C-B20D-7C4DB2A8D48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8407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</p:sldLayoutIdLst>
  <p:txStyles>
    <p:titleStyle>
      <a:lvl1pPr algn="l" defTabSz="977402" rtl="0" eaLnBrk="1" latinLnBrk="0" hangingPunct="1">
        <a:lnSpc>
          <a:spcPct val="90000"/>
        </a:lnSpc>
        <a:spcBef>
          <a:spcPct val="0"/>
        </a:spcBef>
        <a:buNone/>
        <a:defRPr sz="47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4351" indent="-244351" algn="l" defTabSz="977402" rtl="0" eaLnBrk="1" latinLnBrk="0" hangingPunct="1">
        <a:lnSpc>
          <a:spcPct val="90000"/>
        </a:lnSpc>
        <a:spcBef>
          <a:spcPts val="1069"/>
        </a:spcBef>
        <a:buFont typeface="Arial" panose="020B0604020202020204" pitchFamily="34" charset="0"/>
        <a:buChar char="•"/>
        <a:defRPr sz="2993" kern="1200">
          <a:solidFill>
            <a:schemeClr val="tx1"/>
          </a:solidFill>
          <a:latin typeface="+mn-lt"/>
          <a:ea typeface="+mn-ea"/>
          <a:cs typeface="+mn-cs"/>
        </a:defRPr>
      </a:lvl1pPr>
      <a:lvl2pPr marL="733052" indent="-244351" algn="l" defTabSz="97740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565" kern="1200">
          <a:solidFill>
            <a:schemeClr val="tx1"/>
          </a:solidFill>
          <a:latin typeface="+mn-lt"/>
          <a:ea typeface="+mn-ea"/>
          <a:cs typeface="+mn-cs"/>
        </a:defRPr>
      </a:lvl2pPr>
      <a:lvl3pPr marL="1221753" indent="-244351" algn="l" defTabSz="97740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138" kern="1200">
          <a:solidFill>
            <a:schemeClr val="tx1"/>
          </a:solidFill>
          <a:latin typeface="+mn-lt"/>
          <a:ea typeface="+mn-ea"/>
          <a:cs typeface="+mn-cs"/>
        </a:defRPr>
      </a:lvl3pPr>
      <a:lvl4pPr marL="1710454" indent="-244351" algn="l" defTabSz="97740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4" kern="1200">
          <a:solidFill>
            <a:schemeClr val="tx1"/>
          </a:solidFill>
          <a:latin typeface="+mn-lt"/>
          <a:ea typeface="+mn-ea"/>
          <a:cs typeface="+mn-cs"/>
        </a:defRPr>
      </a:lvl4pPr>
      <a:lvl5pPr marL="2199155" indent="-244351" algn="l" defTabSz="97740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4" kern="1200">
          <a:solidFill>
            <a:schemeClr val="tx1"/>
          </a:solidFill>
          <a:latin typeface="+mn-lt"/>
          <a:ea typeface="+mn-ea"/>
          <a:cs typeface="+mn-cs"/>
        </a:defRPr>
      </a:lvl5pPr>
      <a:lvl6pPr marL="2687856" indent="-244351" algn="l" defTabSz="97740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4" kern="1200">
          <a:solidFill>
            <a:schemeClr val="tx1"/>
          </a:solidFill>
          <a:latin typeface="+mn-lt"/>
          <a:ea typeface="+mn-ea"/>
          <a:cs typeface="+mn-cs"/>
        </a:defRPr>
      </a:lvl6pPr>
      <a:lvl7pPr marL="3176557" indent="-244351" algn="l" defTabSz="97740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4" kern="1200">
          <a:solidFill>
            <a:schemeClr val="tx1"/>
          </a:solidFill>
          <a:latin typeface="+mn-lt"/>
          <a:ea typeface="+mn-ea"/>
          <a:cs typeface="+mn-cs"/>
        </a:defRPr>
      </a:lvl7pPr>
      <a:lvl8pPr marL="3665258" indent="-244351" algn="l" defTabSz="97740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4" kern="1200">
          <a:solidFill>
            <a:schemeClr val="tx1"/>
          </a:solidFill>
          <a:latin typeface="+mn-lt"/>
          <a:ea typeface="+mn-ea"/>
          <a:cs typeface="+mn-cs"/>
        </a:defRPr>
      </a:lvl8pPr>
      <a:lvl9pPr marL="4153959" indent="-244351" algn="l" defTabSz="97740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1pPr>
      <a:lvl2pPr marL="488701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2pPr>
      <a:lvl3pPr marL="977402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3pPr>
      <a:lvl4pPr marL="1466103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4pPr>
      <a:lvl5pPr marL="1954804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5pPr>
      <a:lvl6pPr marL="2443505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6pPr>
      <a:lvl7pPr marL="2932206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7pPr>
      <a:lvl8pPr marL="3420908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8pPr>
      <a:lvl9pPr marL="3909609" algn="l" defTabSz="977402" rtl="0" eaLnBrk="1" latinLnBrk="0" hangingPunct="1">
        <a:defRPr sz="19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qsels.com/fr/search?q=num%C3%A9rique&amp;page=2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22219970-5158-4EB8-9DF3-2C3FEC1BC4E9}"/>
              </a:ext>
            </a:extLst>
          </p:cNvPr>
          <p:cNvSpPr/>
          <p:nvPr/>
        </p:nvSpPr>
        <p:spPr>
          <a:xfrm>
            <a:off x="0" y="73960"/>
            <a:ext cx="13031788" cy="7735606"/>
          </a:xfrm>
          <a:custGeom>
            <a:avLst/>
            <a:gdLst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2038" h="7415213">
                <a:moveTo>
                  <a:pt x="0" y="7415213"/>
                </a:moveTo>
                <a:lnTo>
                  <a:pt x="0" y="0"/>
                </a:lnTo>
                <a:cubicBezTo>
                  <a:pt x="3361908" y="4220328"/>
                  <a:pt x="12434803" y="3243011"/>
                  <a:pt x="12492038" y="7415213"/>
                </a:cubicBezTo>
                <a:lnTo>
                  <a:pt x="0" y="74152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35000" dist="50800" dir="5400000" algn="ctr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5" name="Triangle rectangle 3">
            <a:extLst>
              <a:ext uri="{FF2B5EF4-FFF2-40B4-BE49-F238E27FC236}">
                <a16:creationId xmlns:a16="http://schemas.microsoft.com/office/drawing/2014/main" id="{7E89A9CD-60DF-4558-B308-39B1319CC5FF}"/>
              </a:ext>
            </a:extLst>
          </p:cNvPr>
          <p:cNvSpPr/>
          <p:nvPr/>
        </p:nvSpPr>
        <p:spPr>
          <a:xfrm rot="10800000">
            <a:off x="158985" y="73959"/>
            <a:ext cx="13031788" cy="7894591"/>
          </a:xfrm>
          <a:custGeom>
            <a:avLst/>
            <a:gdLst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2038" h="7415213">
                <a:moveTo>
                  <a:pt x="0" y="7415213"/>
                </a:moveTo>
                <a:lnTo>
                  <a:pt x="0" y="0"/>
                </a:lnTo>
                <a:cubicBezTo>
                  <a:pt x="3361908" y="4220328"/>
                  <a:pt x="12434803" y="3243011"/>
                  <a:pt x="12492038" y="7415213"/>
                </a:cubicBezTo>
                <a:lnTo>
                  <a:pt x="0" y="74152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35000" dist="50800" dir="5400000" algn="ctr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7" name="Cadre 6">
            <a:extLst>
              <a:ext uri="{FF2B5EF4-FFF2-40B4-BE49-F238E27FC236}">
                <a16:creationId xmlns:a16="http://schemas.microsoft.com/office/drawing/2014/main" id="{62A08FC6-4403-472C-96CB-89B1757FB3C5}"/>
              </a:ext>
            </a:extLst>
          </p:cNvPr>
          <p:cNvSpPr/>
          <p:nvPr/>
        </p:nvSpPr>
        <p:spPr>
          <a:xfrm>
            <a:off x="0" y="73960"/>
            <a:ext cx="13190773" cy="7735606"/>
          </a:xfrm>
          <a:prstGeom prst="frame">
            <a:avLst>
              <a:gd name="adj1" fmla="val 5144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3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22219970-5158-4EB8-9DF3-2C3FEC1BC4E9}"/>
              </a:ext>
            </a:extLst>
          </p:cNvPr>
          <p:cNvSpPr/>
          <p:nvPr/>
        </p:nvSpPr>
        <p:spPr>
          <a:xfrm>
            <a:off x="-7061816" y="906463"/>
            <a:ext cx="13031788" cy="7735606"/>
          </a:xfrm>
          <a:custGeom>
            <a:avLst/>
            <a:gdLst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2038" h="7415213">
                <a:moveTo>
                  <a:pt x="0" y="7415213"/>
                </a:moveTo>
                <a:lnTo>
                  <a:pt x="0" y="0"/>
                </a:lnTo>
                <a:cubicBezTo>
                  <a:pt x="3361908" y="4220328"/>
                  <a:pt x="12434803" y="3243011"/>
                  <a:pt x="12492038" y="7415213"/>
                </a:cubicBezTo>
                <a:lnTo>
                  <a:pt x="0" y="74152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35000" dist="50800" dir="5400000" algn="ctr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5" name="Triangle rectangle 3">
            <a:extLst>
              <a:ext uri="{FF2B5EF4-FFF2-40B4-BE49-F238E27FC236}">
                <a16:creationId xmlns:a16="http://schemas.microsoft.com/office/drawing/2014/main" id="{7E89A9CD-60DF-4558-B308-39B1319CC5FF}"/>
              </a:ext>
            </a:extLst>
          </p:cNvPr>
          <p:cNvSpPr/>
          <p:nvPr/>
        </p:nvSpPr>
        <p:spPr>
          <a:xfrm rot="10800000">
            <a:off x="7061817" y="-85025"/>
            <a:ext cx="13031788" cy="7894591"/>
          </a:xfrm>
          <a:custGeom>
            <a:avLst/>
            <a:gdLst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  <a:gd name="connsiteX0" fmla="*/ 0 w 12492038"/>
              <a:gd name="connsiteY0" fmla="*/ 7415213 h 7415213"/>
              <a:gd name="connsiteX1" fmla="*/ 0 w 12492038"/>
              <a:gd name="connsiteY1" fmla="*/ 0 h 7415213"/>
              <a:gd name="connsiteX2" fmla="*/ 12492038 w 12492038"/>
              <a:gd name="connsiteY2" fmla="*/ 7415213 h 7415213"/>
              <a:gd name="connsiteX3" fmla="*/ 0 w 12492038"/>
              <a:gd name="connsiteY3" fmla="*/ 7415213 h 741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2038" h="7415213">
                <a:moveTo>
                  <a:pt x="0" y="7415213"/>
                </a:moveTo>
                <a:lnTo>
                  <a:pt x="0" y="0"/>
                </a:lnTo>
                <a:cubicBezTo>
                  <a:pt x="3361908" y="4220328"/>
                  <a:pt x="12434803" y="3243011"/>
                  <a:pt x="12492038" y="7415213"/>
                </a:cubicBezTo>
                <a:lnTo>
                  <a:pt x="0" y="74152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35000" dist="50800" dir="5400000" algn="ctr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7" name="Cadre 6">
            <a:extLst>
              <a:ext uri="{FF2B5EF4-FFF2-40B4-BE49-F238E27FC236}">
                <a16:creationId xmlns:a16="http://schemas.microsoft.com/office/drawing/2014/main" id="{62A08FC6-4403-472C-96CB-89B1757FB3C5}"/>
              </a:ext>
            </a:extLst>
          </p:cNvPr>
          <p:cNvSpPr/>
          <p:nvPr/>
        </p:nvSpPr>
        <p:spPr>
          <a:xfrm>
            <a:off x="0" y="73960"/>
            <a:ext cx="13190773" cy="7735606"/>
          </a:xfrm>
          <a:prstGeom prst="frame">
            <a:avLst>
              <a:gd name="adj1" fmla="val 5144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>
              <a:solidFill>
                <a:schemeClr val="tx1"/>
              </a:solidFill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EEFCD0D9-205F-4711-A37B-344A55694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outerShdw blurRad="482600" dist="50800" dir="8220000" algn="ctr" rotWithShape="0">
              <a:srgbClr val="002060">
                <a:alpha val="43000"/>
              </a:srgbClr>
            </a:outerShdw>
            <a:softEdge rad="215900"/>
          </a:effectLst>
          <a:scene3d>
            <a:camera prst="orthographicFront"/>
            <a:lightRig rig="threePt" dir="t">
              <a:rot lat="0" lon="0" rev="5400000"/>
            </a:lightRig>
          </a:scene3d>
          <a:sp3d prstMaterial="powder"/>
        </p:spPr>
        <p:txBody>
          <a:bodyPr>
            <a:normAutofit/>
            <a:sp3d extrusionH="57150">
              <a:bevelT w="38100" h="38100"/>
            </a:sp3d>
          </a:bodyPr>
          <a:lstStyle/>
          <a:p>
            <a:r>
              <a:rPr lang="fr-SN" sz="10015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endParaRPr lang="fr-SN" sz="10015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167744AE-1287-4393-A06F-4900465EA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8974" y="4136944"/>
            <a:ext cx="9773842" cy="3256099"/>
          </a:xfrm>
        </p:spPr>
        <p:txBody>
          <a:bodyPr>
            <a:normAutofit lnSpcReduction="10000"/>
          </a:bodyPr>
          <a:lstStyle/>
          <a:p>
            <a:pPr marL="751104"/>
            <a:r>
              <a:rPr lang="fr-SN" sz="29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plateforme digital qui met en relation les entreprises et les freelances africains spécialisés dans les métiers du numérique</a:t>
            </a:r>
          </a:p>
          <a:p>
            <a:r>
              <a:rPr lang="fr-SN" sz="2921" b="1" dirty="0">
                <a:latin typeface="Algerian" panose="04020705040A02060702" pitchFamily="82" charset="0"/>
                <a:cs typeface="Times New Roman" panose="02020603050405020304" pitchFamily="18" charset="0"/>
              </a:rPr>
              <a:t>Talents  Innovation  Afrique</a:t>
            </a:r>
          </a:p>
          <a:p>
            <a:r>
              <a:rPr lang="fr-SN" sz="292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Réalisé par</a:t>
            </a:r>
            <a:r>
              <a:rPr lang="fr-SN" sz="29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Fatou GAYE</a:t>
            </a:r>
          </a:p>
          <a:p>
            <a:r>
              <a:rPr lang="fr-SN" sz="292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fr-SN" sz="29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DS&amp;BD</a:t>
            </a:r>
          </a:p>
          <a:p>
            <a:r>
              <a:rPr lang="fr-SN" sz="292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Année</a:t>
            </a:r>
            <a:r>
              <a:rPr lang="fr-SN" sz="29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2025-2026</a:t>
            </a:r>
          </a:p>
        </p:txBody>
      </p:sp>
    </p:spTree>
    <p:extLst>
      <p:ext uri="{BB962C8B-B14F-4D97-AF65-F5344CB8AC3E}">
        <p14:creationId xmlns:p14="http://schemas.microsoft.com/office/powerpoint/2010/main" val="1692440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E5AD0F0-D49F-4DE0-8FAD-4DCEF113A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73959"/>
            <a:ext cx="13031788" cy="77356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9425F8-D431-4670-9125-718732598601}"/>
              </a:ext>
            </a:extLst>
          </p:cNvPr>
          <p:cNvSpPr/>
          <p:nvPr/>
        </p:nvSpPr>
        <p:spPr>
          <a:xfrm>
            <a:off x="0" y="73961"/>
            <a:ext cx="13031788" cy="7735605"/>
          </a:xfrm>
          <a:prstGeom prst="rect">
            <a:avLst/>
          </a:prstGeom>
          <a:solidFill>
            <a:schemeClr val="tx1">
              <a:lumMod val="95000"/>
              <a:lumOff val="5000"/>
              <a:alpha val="7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3756" b="1" spc="52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1FE4240F-70C1-447C-91F6-83608B39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SN" sz="10015" b="1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49F750-DAF0-43E9-8872-852816DF3690}"/>
              </a:ext>
            </a:extLst>
          </p:cNvPr>
          <p:cNvSpPr/>
          <p:nvPr/>
        </p:nvSpPr>
        <p:spPr>
          <a:xfrm>
            <a:off x="117148" y="2216071"/>
            <a:ext cx="6223026" cy="719615"/>
          </a:xfrm>
          <a:prstGeom prst="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sz="3756" b="1" dirty="0">
                <a:solidFill>
                  <a:schemeClr val="tx1"/>
                </a:solidFill>
              </a:rPr>
              <a:t>PRESENTATION DU PROJET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388E44-EF57-42D6-A32A-C1F709BDEEDC}"/>
              </a:ext>
            </a:extLst>
          </p:cNvPr>
          <p:cNvSpPr/>
          <p:nvPr/>
        </p:nvSpPr>
        <p:spPr>
          <a:xfrm>
            <a:off x="117146" y="3534233"/>
            <a:ext cx="6223026" cy="719615"/>
          </a:xfrm>
          <a:prstGeom prst="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sz="3756" b="1" dirty="0">
                <a:solidFill>
                  <a:schemeClr val="tx1"/>
                </a:solidFill>
              </a:rPr>
              <a:t>CHOIX DU DESIGN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CFF941-55F6-4602-8020-3542263F62FE}"/>
              </a:ext>
            </a:extLst>
          </p:cNvPr>
          <p:cNvSpPr/>
          <p:nvPr/>
        </p:nvSpPr>
        <p:spPr>
          <a:xfrm>
            <a:off x="117146" y="4936071"/>
            <a:ext cx="6223026" cy="719615"/>
          </a:xfrm>
          <a:prstGeom prst="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sz="3756" b="1" dirty="0">
                <a:solidFill>
                  <a:schemeClr val="tx1"/>
                </a:solidFill>
              </a:rPr>
              <a:t>ARCHITECTURE DU SITE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794FE9-7EE6-4B6B-8F20-253D496D275F}"/>
              </a:ext>
            </a:extLst>
          </p:cNvPr>
          <p:cNvSpPr/>
          <p:nvPr/>
        </p:nvSpPr>
        <p:spPr>
          <a:xfrm>
            <a:off x="117146" y="6296986"/>
            <a:ext cx="6398745" cy="719615"/>
          </a:xfrm>
          <a:prstGeom prst="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sz="3756" b="1" dirty="0">
                <a:solidFill>
                  <a:schemeClr val="tx1"/>
                </a:solidFill>
              </a:rPr>
              <a:t>ASPECT TECHNIQUE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1746DD-8022-4346-B3A3-BDD87BC56B75}"/>
              </a:ext>
            </a:extLst>
          </p:cNvPr>
          <p:cNvSpPr/>
          <p:nvPr/>
        </p:nvSpPr>
        <p:spPr>
          <a:xfrm>
            <a:off x="6691617" y="2216071"/>
            <a:ext cx="6223025" cy="719615"/>
          </a:xfrm>
          <a:prstGeom prst="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sz="3338" b="1" dirty="0">
                <a:solidFill>
                  <a:schemeClr val="tx1"/>
                </a:solidFill>
              </a:rPr>
              <a:t>GESTION DU </a:t>
            </a:r>
            <a:r>
              <a:rPr lang="fr-SN" sz="2921" b="1" dirty="0">
                <a:solidFill>
                  <a:schemeClr val="tx1"/>
                </a:solidFill>
              </a:rPr>
              <a:t>PROJET</a:t>
            </a:r>
            <a:r>
              <a:rPr lang="fr-SN" sz="3338" b="1" dirty="0">
                <a:solidFill>
                  <a:schemeClr val="tx1"/>
                </a:solidFill>
              </a:rPr>
              <a:t> AVEC GITHUB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1B8D5E-D879-41D5-925E-23EF087FAC99}"/>
              </a:ext>
            </a:extLst>
          </p:cNvPr>
          <p:cNvSpPr/>
          <p:nvPr/>
        </p:nvSpPr>
        <p:spPr>
          <a:xfrm>
            <a:off x="6691617" y="3534233"/>
            <a:ext cx="6223025" cy="719615"/>
          </a:xfrm>
          <a:prstGeom prst="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sz="3756" b="1" dirty="0">
                <a:solidFill>
                  <a:schemeClr val="tx1"/>
                </a:solidFill>
              </a:rPr>
              <a:t>DIFFICULTES RENCONTRES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B36D85-8E12-47C7-8339-90A6D4A0B041}"/>
              </a:ext>
            </a:extLst>
          </p:cNvPr>
          <p:cNvSpPr/>
          <p:nvPr/>
        </p:nvSpPr>
        <p:spPr>
          <a:xfrm>
            <a:off x="6691617" y="4936071"/>
            <a:ext cx="6223025" cy="719615"/>
          </a:xfrm>
          <a:prstGeom prst="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sz="3756" b="1" dirty="0">
                <a:solidFill>
                  <a:schemeClr val="tx1"/>
                </a:solidFill>
              </a:rPr>
              <a:t>RESSOURCES</a:t>
            </a:r>
            <a:r>
              <a:rPr lang="fr-SN" sz="3756" dirty="0">
                <a:solidFill>
                  <a:schemeClr val="tx1"/>
                </a:solidFill>
              </a:rPr>
              <a:t> </a:t>
            </a:r>
            <a:r>
              <a:rPr lang="fr-SN" sz="3756" b="1" dirty="0">
                <a:solidFill>
                  <a:schemeClr val="tx1"/>
                </a:solidFill>
              </a:rPr>
              <a:t>UTILISES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2DD993-1B62-4FF5-AD0A-9B2EB0839986}"/>
              </a:ext>
            </a:extLst>
          </p:cNvPr>
          <p:cNvSpPr/>
          <p:nvPr/>
        </p:nvSpPr>
        <p:spPr>
          <a:xfrm>
            <a:off x="6691617" y="6296986"/>
            <a:ext cx="6223026" cy="719615"/>
          </a:xfrm>
          <a:prstGeom prst="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sz="3756" b="1" dirty="0">
                <a:solidFill>
                  <a:schemeClr val="tx1"/>
                </a:solidFill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4003729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297323-3EC4-4B0B-A103-B14CEB04F672}"/>
              </a:ext>
            </a:extLst>
          </p:cNvPr>
          <p:cNvSpPr/>
          <p:nvPr/>
        </p:nvSpPr>
        <p:spPr>
          <a:xfrm>
            <a:off x="0" y="191106"/>
            <a:ext cx="13031788" cy="1509052"/>
          </a:xfrm>
          <a:prstGeom prst="rect">
            <a:avLst/>
          </a:prstGeom>
          <a:noFill/>
        </p:spPr>
        <p:txBody>
          <a:bodyPr wrap="square" lIns="95391" tIns="47695" rIns="95391" bIns="47695" numCol="1">
            <a:spAutoFit/>
          </a:bodyPr>
          <a:lstStyle/>
          <a:p>
            <a:pPr algn="ctr"/>
            <a:r>
              <a:rPr lang="fr-FR" sz="9180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fr-FR" sz="9180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DU PROJET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0C0B206-2324-4A14-81EF-5418FB92B4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5936" y="2953029"/>
            <a:ext cx="3526734" cy="4088348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3872C34-2C2C-4942-9686-8F2473E90E54}"/>
              </a:ext>
            </a:extLst>
          </p:cNvPr>
          <p:cNvSpPr/>
          <p:nvPr/>
        </p:nvSpPr>
        <p:spPr>
          <a:xfrm>
            <a:off x="5082386" y="3276852"/>
            <a:ext cx="3526734" cy="4088348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EC6F6A8-E2C7-4A24-87E8-915EFFB39853}"/>
              </a:ext>
            </a:extLst>
          </p:cNvPr>
          <p:cNvSpPr/>
          <p:nvPr/>
        </p:nvSpPr>
        <p:spPr>
          <a:xfrm>
            <a:off x="8921963" y="2953029"/>
            <a:ext cx="3213889" cy="4088348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3F09E63-8938-451E-93A0-88A573C22D6F}"/>
              </a:ext>
            </a:extLst>
          </p:cNvPr>
          <p:cNvSpPr txBox="1"/>
          <p:nvPr/>
        </p:nvSpPr>
        <p:spPr>
          <a:xfrm>
            <a:off x="1037587" y="3030078"/>
            <a:ext cx="3196431" cy="336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5633" b="1" dirty="0"/>
              <a:t>LE BESOIN</a:t>
            </a:r>
          </a:p>
          <a:p>
            <a:r>
              <a:rPr lang="fr-SN" sz="2504" dirty="0"/>
              <a:t>Difficulté pour les entreprises de trouver rapidement des talents tech qualifiés.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64382BB-2E67-4AF8-A1AA-0349EC15771D}"/>
              </a:ext>
            </a:extLst>
          </p:cNvPr>
          <p:cNvSpPr txBox="1"/>
          <p:nvPr/>
        </p:nvSpPr>
        <p:spPr>
          <a:xfrm rot="10800000" flipH="1" flipV="1">
            <a:off x="5238133" y="3313473"/>
            <a:ext cx="3370987" cy="336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5633" b="1" dirty="0"/>
              <a:t>LA  SOLUTION</a:t>
            </a:r>
          </a:p>
          <a:p>
            <a:r>
              <a:rPr lang="fr-SN" sz="2504" dirty="0"/>
              <a:t>AfriTalent facilite la mise en relation entre entreprises et freelances africains</a:t>
            </a:r>
            <a:r>
              <a:rPr lang="fr-SN" sz="1973" dirty="0"/>
              <a:t>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347784E-DADC-4D04-81E1-F2A9F47F5C2D}"/>
              </a:ext>
            </a:extLst>
          </p:cNvPr>
          <p:cNvSpPr txBox="1"/>
          <p:nvPr/>
        </p:nvSpPr>
        <p:spPr>
          <a:xfrm>
            <a:off x="8987865" y="3030079"/>
            <a:ext cx="3082085" cy="4581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5633" b="1" dirty="0"/>
              <a:t>PUBLIC CIBLE</a:t>
            </a:r>
          </a:p>
          <a:p>
            <a:pPr marL="298094" indent="-298094">
              <a:buFont typeface="Arial" panose="020B0604020202020204" pitchFamily="34" charset="0"/>
              <a:buChar char="•"/>
            </a:pPr>
            <a:r>
              <a:rPr lang="fr-SN" sz="2504" dirty="0"/>
              <a:t>Entreprises</a:t>
            </a:r>
          </a:p>
          <a:p>
            <a:pPr marL="298094" indent="-298094">
              <a:buFont typeface="Arial" panose="020B0604020202020204" pitchFamily="34" charset="0"/>
              <a:buChar char="•"/>
            </a:pPr>
            <a:r>
              <a:rPr lang="fr-SN" sz="2504" dirty="0"/>
              <a:t>Startups</a:t>
            </a:r>
          </a:p>
          <a:p>
            <a:pPr marL="298094" indent="-298094">
              <a:buFont typeface="Arial" panose="020B0604020202020204" pitchFamily="34" charset="0"/>
              <a:buChar char="•"/>
            </a:pPr>
            <a:r>
              <a:rPr lang="fr-SN" sz="2504" dirty="0"/>
              <a:t>Freelances</a:t>
            </a:r>
          </a:p>
          <a:p>
            <a:pPr marL="298094" indent="-298094">
              <a:buFont typeface="Arial" panose="020B0604020202020204" pitchFamily="34" charset="0"/>
              <a:buChar char="•"/>
            </a:pPr>
            <a:r>
              <a:rPr lang="fr-SN" sz="2504" dirty="0"/>
              <a:t>Porteurs de projet</a:t>
            </a:r>
          </a:p>
          <a:p>
            <a:pPr marL="298094" indent="-298094">
              <a:buFont typeface="Arial" panose="020B0604020202020204" pitchFamily="34" charset="0"/>
              <a:buChar char="•"/>
            </a:pPr>
            <a:endParaRPr lang="fr-SN" sz="1973" dirty="0"/>
          </a:p>
          <a:p>
            <a:pPr marL="298094" indent="-298094">
              <a:buFont typeface="Arial" panose="020B0604020202020204" pitchFamily="34" charset="0"/>
              <a:buChar char="•"/>
            </a:pPr>
            <a:endParaRPr lang="fr-SN" sz="1973" dirty="0"/>
          </a:p>
          <a:p>
            <a:pPr marL="298094" indent="-298094">
              <a:buFont typeface="Arial" panose="020B0604020202020204" pitchFamily="34" charset="0"/>
              <a:buChar char="•"/>
            </a:pPr>
            <a:endParaRPr lang="fr-SN" sz="1973" dirty="0"/>
          </a:p>
          <a:p>
            <a:pPr marL="298094" indent="-298094">
              <a:buFont typeface="Arial" panose="020B0604020202020204" pitchFamily="34" charset="0"/>
              <a:buChar char="•"/>
            </a:pPr>
            <a:endParaRPr lang="fr-SN" sz="1973" dirty="0"/>
          </a:p>
        </p:txBody>
      </p:sp>
    </p:spTree>
    <p:extLst>
      <p:ext uri="{BB962C8B-B14F-4D97-AF65-F5344CB8AC3E}">
        <p14:creationId xmlns:p14="http://schemas.microsoft.com/office/powerpoint/2010/main" val="1505331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633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15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CHOIX</a:t>
            </a:r>
            <a:r>
              <a:rPr lang="fr-FR" sz="10015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 DU DESIGN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7F4DC5F-848C-44F2-8A53-66ED02EF2A46}"/>
              </a:ext>
            </a:extLst>
          </p:cNvPr>
          <p:cNvSpPr/>
          <p:nvPr/>
        </p:nvSpPr>
        <p:spPr>
          <a:xfrm>
            <a:off x="1966847" y="1711441"/>
            <a:ext cx="9098090" cy="5875927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E99A053-D4B1-48D2-8CE2-8B4D9B540E54}"/>
              </a:ext>
            </a:extLst>
          </p:cNvPr>
          <p:cNvSpPr txBox="1"/>
          <p:nvPr/>
        </p:nvSpPr>
        <p:spPr>
          <a:xfrm>
            <a:off x="2440860" y="1878076"/>
            <a:ext cx="8150064" cy="5598007"/>
          </a:xfrm>
          <a:prstGeom prst="rect">
            <a:avLst/>
          </a:prstGeom>
          <a:solidFill>
            <a:srgbClr val="8C8C8C"/>
          </a:solidFill>
        </p:spPr>
        <p:txBody>
          <a:bodyPr wrap="square" rtlCol="0">
            <a:spAutoFit/>
          </a:bodyPr>
          <a:lstStyle/>
          <a:p>
            <a:r>
              <a:rPr lang="fr-SN" sz="2921" b="1" dirty="0"/>
              <a:t>BLEU PRINCIPALE</a:t>
            </a:r>
            <a:r>
              <a:rPr lang="fr-SN" sz="2921" dirty="0"/>
              <a:t>:      </a:t>
            </a:r>
            <a:r>
              <a:rPr lang="fr-SN" sz="2921" dirty="0">
                <a:solidFill>
                  <a:srgbClr val="CE9178"/>
                </a:solidFill>
                <a:latin typeface="Consolas" panose="020B0609020204030204" pitchFamily="49" charset="0"/>
              </a:rPr>
              <a:t>#04122b</a:t>
            </a:r>
            <a:endParaRPr lang="fr-SN" sz="2921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fr-SN" sz="1973" dirty="0"/>
              <a:t> </a:t>
            </a:r>
          </a:p>
          <a:p>
            <a:r>
              <a:rPr lang="fr-SN" sz="2921" b="1" dirty="0"/>
              <a:t>BLANC SECONDAIRE</a:t>
            </a:r>
            <a:r>
              <a:rPr lang="fr-SN" sz="2921" dirty="0"/>
              <a:t>:     </a:t>
            </a:r>
            <a:r>
              <a:rPr lang="fr-SN" sz="2921" dirty="0">
                <a:solidFill>
                  <a:srgbClr val="CE9178"/>
                </a:solidFill>
                <a:latin typeface="Consolas" panose="020B0609020204030204" pitchFamily="49" charset="0"/>
              </a:rPr>
              <a:t>#fff</a:t>
            </a:r>
            <a:endParaRPr lang="fr-SN" sz="2921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endParaRPr lang="fr-SN" sz="2921" dirty="0"/>
          </a:p>
          <a:p>
            <a:r>
              <a:rPr lang="fr-SN" sz="2504" b="1" dirty="0"/>
              <a:t>VERT:</a:t>
            </a:r>
            <a:r>
              <a:rPr lang="fr-SN" sz="2504" dirty="0">
                <a:solidFill>
                  <a:srgbClr val="CE9178"/>
                </a:solidFill>
                <a:latin typeface="Consolas" panose="020B0609020204030204" pitchFamily="49" charset="0"/>
              </a:rPr>
              <a:t>   #39ff14</a:t>
            </a:r>
            <a:endParaRPr lang="fr-SN" sz="2504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endParaRPr lang="fr-SN" sz="2504" b="1" dirty="0"/>
          </a:p>
          <a:p>
            <a:r>
              <a:rPr lang="fr-SN" sz="2504" b="1" dirty="0"/>
              <a:t>BLEU:</a:t>
            </a:r>
            <a:r>
              <a:rPr lang="fr-SN" sz="2504" dirty="0">
                <a:solidFill>
                  <a:srgbClr val="CE9178"/>
                </a:solidFill>
                <a:latin typeface="Consolas" panose="020B0609020204030204" pitchFamily="49" charset="0"/>
              </a:rPr>
              <a:t>   #0d6efd</a:t>
            </a:r>
            <a:endParaRPr lang="fr-SN" sz="2504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endParaRPr lang="fr-SN" sz="2504" dirty="0"/>
          </a:p>
          <a:p>
            <a:r>
              <a:rPr lang="fr-SN" sz="2504" b="1" dirty="0"/>
              <a:t>NOIR</a:t>
            </a:r>
            <a:r>
              <a:rPr lang="fr-SN" sz="2504" dirty="0"/>
              <a:t>:     </a:t>
            </a:r>
            <a:r>
              <a:rPr lang="fr-SN" sz="2504" dirty="0">
                <a:solidFill>
                  <a:srgbClr val="CE9178"/>
                </a:solidFill>
                <a:latin typeface="Consolas" panose="020B0609020204030204" pitchFamily="49" charset="0"/>
              </a:rPr>
              <a:t>#000</a:t>
            </a:r>
          </a:p>
          <a:p>
            <a:r>
              <a:rPr lang="fr-SN" sz="2504" b="1" dirty="0">
                <a:latin typeface="Consolas" panose="020B0609020204030204" pitchFamily="49" charset="0"/>
              </a:rPr>
              <a:t>POURQUOI?</a:t>
            </a:r>
          </a:p>
          <a:p>
            <a:pPr marL="357713" indent="-357713">
              <a:buFont typeface="Wingdings" panose="05000000000000000000" pitchFamily="2" charset="2"/>
              <a:buChar char="ü"/>
            </a:pPr>
            <a:r>
              <a:rPr lang="fr-SN" sz="2504" b="1" dirty="0">
                <a:latin typeface="Consolas" panose="020B0609020204030204" pitchFamily="49" charset="0"/>
              </a:rPr>
              <a:t>Bleu: confiance</a:t>
            </a:r>
          </a:p>
          <a:p>
            <a:pPr marL="357713" indent="-357713">
              <a:buFont typeface="Wingdings" panose="05000000000000000000" pitchFamily="2" charset="2"/>
              <a:buChar char="ü"/>
            </a:pPr>
            <a:r>
              <a:rPr lang="fr-SN" sz="2504" b="1" dirty="0">
                <a:latin typeface="Consolas" panose="020B0609020204030204" pitchFamily="49" charset="0"/>
              </a:rPr>
              <a:t>Vert: croissance</a:t>
            </a:r>
          </a:p>
          <a:p>
            <a:pPr marL="357713" indent="-357713">
              <a:buFont typeface="Wingdings" panose="05000000000000000000" pitchFamily="2" charset="2"/>
              <a:buChar char="ü"/>
            </a:pPr>
            <a:r>
              <a:rPr lang="fr-SN" sz="2504" b="1" dirty="0">
                <a:latin typeface="Consolas" panose="020B0609020204030204" pitchFamily="49" charset="0"/>
              </a:rPr>
              <a:t>Blanc: lisibilité</a:t>
            </a:r>
          </a:p>
          <a:p>
            <a:endParaRPr lang="fr-SN" sz="2504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7A7F52-46FA-4C06-BEC9-FCD5554980EA}"/>
              </a:ext>
            </a:extLst>
          </p:cNvPr>
          <p:cNvSpPr/>
          <p:nvPr/>
        </p:nvSpPr>
        <p:spPr>
          <a:xfrm>
            <a:off x="5405485" y="2062163"/>
            <a:ext cx="267763" cy="21755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21871F-0802-49C4-8C41-419CF7FA372D}"/>
              </a:ext>
            </a:extLst>
          </p:cNvPr>
          <p:cNvSpPr/>
          <p:nvPr/>
        </p:nvSpPr>
        <p:spPr>
          <a:xfrm>
            <a:off x="3439090" y="3566195"/>
            <a:ext cx="267763" cy="21755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F8802F-2B49-4C39-90B0-0FA1B95F418B}"/>
              </a:ext>
            </a:extLst>
          </p:cNvPr>
          <p:cNvSpPr/>
          <p:nvPr/>
        </p:nvSpPr>
        <p:spPr>
          <a:xfrm>
            <a:off x="3439089" y="4338514"/>
            <a:ext cx="267763" cy="21755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927F89-EFF9-4369-8245-992CC3DC06C5}"/>
              </a:ext>
            </a:extLst>
          </p:cNvPr>
          <p:cNvSpPr/>
          <p:nvPr/>
        </p:nvSpPr>
        <p:spPr>
          <a:xfrm>
            <a:off x="3439089" y="5191261"/>
            <a:ext cx="267763" cy="21755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377DA-7436-4ECF-B76D-2F3455333D96}"/>
              </a:ext>
            </a:extLst>
          </p:cNvPr>
          <p:cNvSpPr/>
          <p:nvPr/>
        </p:nvSpPr>
        <p:spPr>
          <a:xfrm>
            <a:off x="5823864" y="2760752"/>
            <a:ext cx="267763" cy="2175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</p:spTree>
    <p:extLst>
      <p:ext uri="{BB962C8B-B14F-4D97-AF65-F5344CB8AC3E}">
        <p14:creationId xmlns:p14="http://schemas.microsoft.com/office/powerpoint/2010/main" val="283574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50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18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POLICES ET INSPIRATION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7F4DC5F-848C-44F2-8A53-66ED02EF2A46}"/>
              </a:ext>
            </a:extLst>
          </p:cNvPr>
          <p:cNvSpPr/>
          <p:nvPr/>
        </p:nvSpPr>
        <p:spPr>
          <a:xfrm>
            <a:off x="298751" y="1583011"/>
            <a:ext cx="12434286" cy="6004356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973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4DAED4F-3B00-4915-AFE3-15EF9BC643A1}"/>
              </a:ext>
            </a:extLst>
          </p:cNvPr>
          <p:cNvSpPr txBox="1"/>
          <p:nvPr/>
        </p:nvSpPr>
        <p:spPr>
          <a:xfrm>
            <a:off x="943056" y="1797691"/>
            <a:ext cx="11145673" cy="535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5633" b="1" u="sng" dirty="0"/>
              <a:t>POLICES</a:t>
            </a:r>
          </a:p>
          <a:p>
            <a:pPr marL="298094" indent="-298094">
              <a:buFont typeface="Wingdings" panose="05000000000000000000" pitchFamily="2" charset="2"/>
              <a:buChar char="v"/>
            </a:pPr>
            <a:r>
              <a:rPr lang="fr-SN" sz="2504" dirty="0"/>
              <a:t>Poppins</a:t>
            </a:r>
          </a:p>
          <a:p>
            <a:pPr marL="298094" indent="-298094">
              <a:buFont typeface="Wingdings" panose="05000000000000000000" pitchFamily="2" charset="2"/>
              <a:buChar char="v"/>
            </a:pPr>
            <a:r>
              <a:rPr lang="fr-SN" sz="2504" dirty="0"/>
              <a:t>Roboto</a:t>
            </a:r>
          </a:p>
          <a:p>
            <a:r>
              <a:rPr lang="fr-SN" sz="2921" b="1" dirty="0"/>
              <a:t>POURQUOI?</a:t>
            </a:r>
          </a:p>
          <a:p>
            <a:pPr marL="298094" indent="-298094">
              <a:buFont typeface="Arial" panose="020B0604020202020204" pitchFamily="34" charset="0"/>
              <a:buChar char="•"/>
            </a:pPr>
            <a:r>
              <a:rPr lang="fr-SN" sz="2504" dirty="0"/>
              <a:t>Moderne</a:t>
            </a:r>
          </a:p>
          <a:p>
            <a:pPr marL="298094" indent="-298094">
              <a:buFont typeface="Arial" panose="020B0604020202020204" pitchFamily="34" charset="0"/>
              <a:buChar char="•"/>
            </a:pPr>
            <a:r>
              <a:rPr lang="fr-SN" sz="2504" dirty="0"/>
              <a:t>Lisible</a:t>
            </a:r>
          </a:p>
          <a:p>
            <a:pPr marL="298094" indent="-298094">
              <a:buFont typeface="Arial" panose="020B0604020202020204" pitchFamily="34" charset="0"/>
              <a:buChar char="•"/>
            </a:pPr>
            <a:r>
              <a:rPr lang="fr-SN" sz="2504" dirty="0"/>
              <a:t>Professionnel</a:t>
            </a:r>
          </a:p>
          <a:p>
            <a:r>
              <a:rPr lang="fr-SN" sz="5633" b="1" u="sng" dirty="0"/>
              <a:t>INSPIRATION</a:t>
            </a:r>
          </a:p>
          <a:p>
            <a:pPr marL="298094" indent="-298094">
              <a:buFont typeface="Wingdings" panose="05000000000000000000" pitchFamily="2" charset="2"/>
              <a:buChar char="v"/>
            </a:pPr>
            <a:r>
              <a:rPr lang="fr-SN" sz="2504" dirty="0"/>
              <a:t>UPWORK</a:t>
            </a:r>
          </a:p>
          <a:p>
            <a:pPr marL="298094" indent="-298094">
              <a:buFont typeface="Wingdings" panose="05000000000000000000" pitchFamily="2" charset="2"/>
              <a:buChar char="v"/>
            </a:pPr>
            <a:r>
              <a:rPr lang="fr-SN" sz="2504" dirty="0"/>
              <a:t>FIVER</a:t>
            </a:r>
          </a:p>
          <a:p>
            <a:pPr marL="298094" indent="-298094">
              <a:buFont typeface="Wingdings" panose="05000000000000000000" pitchFamily="2" charset="2"/>
              <a:buChar char="v"/>
            </a:pPr>
            <a:r>
              <a:rPr lang="fr-SN" sz="2504" dirty="0"/>
              <a:t>STUDIOTech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A73D88-1034-4B2C-BBE9-6EEBBE4CB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365" y="4307976"/>
            <a:ext cx="5683193" cy="285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54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633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15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ARBORESCENCE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50020E8-0711-47CF-B6A2-63226D336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52" y="1711441"/>
            <a:ext cx="12434285" cy="587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2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CAPTURES DES PAGES ACCUEIL,FREELANCES,</a:t>
            </a:r>
            <a:r>
              <a:rPr lang="fr-FR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TARIFS</a:t>
            </a:r>
            <a:r>
              <a:rPr lang="fr-FR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,CONTACT ET A PROPOS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A2FABDE-588A-477E-ADF5-6A808E5F5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51" y="1879600"/>
            <a:ext cx="4019249" cy="27069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0D069BA-3101-40E2-9D0A-B613A602A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33" y="1951038"/>
            <a:ext cx="3359590" cy="270692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8DE191B-52A6-4A00-AB33-C8A04FB65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4986875"/>
            <a:ext cx="5530149" cy="277545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5FDF06-B912-4D17-9A37-245CA354D0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774" y="4983972"/>
            <a:ext cx="5530149" cy="277836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81CCB55-EB38-4399-ABD2-157F6278F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541" y="2038609"/>
            <a:ext cx="4019249" cy="310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ASPECT TECHNIQUE:JAVA SCRIPT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456C679-B398-405A-B78B-AC86CC052ACC}"/>
              </a:ext>
            </a:extLst>
          </p:cNvPr>
          <p:cNvSpPr/>
          <p:nvPr/>
        </p:nvSpPr>
        <p:spPr>
          <a:xfrm>
            <a:off x="829732" y="2012951"/>
            <a:ext cx="3200400" cy="3857623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886D6E3-6C77-4AB6-A26C-491C87581FDC}"/>
              </a:ext>
            </a:extLst>
          </p:cNvPr>
          <p:cNvSpPr/>
          <p:nvPr/>
        </p:nvSpPr>
        <p:spPr>
          <a:xfrm>
            <a:off x="4696482" y="2012951"/>
            <a:ext cx="3764232" cy="3857623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  <a:p>
            <a:pPr algn="ctr"/>
            <a:endParaRPr lang="fr-SN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FD1C8C0-ED6D-4F13-AC0E-30D2AF2FF516}"/>
              </a:ext>
            </a:extLst>
          </p:cNvPr>
          <p:cNvSpPr/>
          <p:nvPr/>
        </p:nvSpPr>
        <p:spPr>
          <a:xfrm>
            <a:off x="9220198" y="2012951"/>
            <a:ext cx="3605973" cy="4292500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5D4503-02D1-4A1B-B806-556FDEE73507}"/>
              </a:ext>
            </a:extLst>
          </p:cNvPr>
          <p:cNvSpPr txBox="1"/>
          <p:nvPr/>
        </p:nvSpPr>
        <p:spPr>
          <a:xfrm>
            <a:off x="829731" y="2322910"/>
            <a:ext cx="30141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dirty="0"/>
              <a:t> </a:t>
            </a:r>
          </a:p>
          <a:p>
            <a:endParaRPr lang="fr-SN" dirty="0"/>
          </a:p>
          <a:p>
            <a:endParaRPr lang="fr-SN" dirty="0"/>
          </a:p>
          <a:p>
            <a:r>
              <a:rPr lang="fr-SN" sz="3200" b="1" dirty="0"/>
              <a:t>DARK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SN" sz="2800" dirty="0"/>
              <a:t>Changement     de thème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SN" sz="2800" dirty="0"/>
              <a:t>Sauvegarde dans localstorage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SN" dirty="0"/>
          </a:p>
        </p:txBody>
      </p:sp>
      <p:pic>
        <p:nvPicPr>
          <p:cNvPr id="9" name="Graphique 8" descr="Soleil avec un remplissage uni">
            <a:extLst>
              <a:ext uri="{FF2B5EF4-FFF2-40B4-BE49-F238E27FC236}">
                <a16:creationId xmlns:a16="http://schemas.microsoft.com/office/drawing/2014/main" id="{578E8161-E4F5-4246-B6D6-B2A23B720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797" y="2159397"/>
            <a:ext cx="914400" cy="914400"/>
          </a:xfrm>
          <a:prstGeom prst="rect">
            <a:avLst/>
          </a:prstGeom>
        </p:spPr>
      </p:pic>
      <p:pic>
        <p:nvPicPr>
          <p:cNvPr id="11" name="Graphique 10" descr="Loupe avec un remplissage uni">
            <a:extLst>
              <a:ext uri="{FF2B5EF4-FFF2-40B4-BE49-F238E27FC236}">
                <a16:creationId xmlns:a16="http://schemas.microsoft.com/office/drawing/2014/main" id="{A45F5B10-B47F-4738-BC89-6A7AD166A1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2015" y="2159397"/>
            <a:ext cx="914400" cy="914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4BC8C4B-0216-4FCE-952A-B583729511B9}"/>
              </a:ext>
            </a:extLst>
          </p:cNvPr>
          <p:cNvSpPr txBox="1"/>
          <p:nvPr/>
        </p:nvSpPr>
        <p:spPr>
          <a:xfrm>
            <a:off x="4696483" y="2938463"/>
            <a:ext cx="376423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200" b="1" dirty="0"/>
              <a:t>FILTRAGE DYNAMIQUE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SN" sz="2800" dirty="0"/>
              <a:t>Filtres des freelances par catégories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SN" sz="2800" dirty="0"/>
              <a:t>Sans rechargement de page</a:t>
            </a:r>
          </a:p>
        </p:txBody>
      </p:sp>
      <p:pic>
        <p:nvPicPr>
          <p:cNvPr id="14" name="Graphique 13" descr="Enveloppe avec un remplissage uni">
            <a:extLst>
              <a:ext uri="{FF2B5EF4-FFF2-40B4-BE49-F238E27FC236}">
                <a16:creationId xmlns:a16="http://schemas.microsoft.com/office/drawing/2014/main" id="{F21E1A23-68B7-4C15-963E-D86280C5E2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3305" y="2159397"/>
            <a:ext cx="914400" cy="91440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B9FAB78-3A78-49C6-953A-0DB1491B9246}"/>
              </a:ext>
            </a:extLst>
          </p:cNvPr>
          <p:cNvSpPr txBox="1"/>
          <p:nvPr/>
        </p:nvSpPr>
        <p:spPr>
          <a:xfrm>
            <a:off x="9323305" y="2938463"/>
            <a:ext cx="34097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200" b="1" dirty="0"/>
              <a:t>VALIDATION FORMULAIRE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SN" sz="2800" dirty="0"/>
              <a:t>Vérification des champs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SN" sz="2800" dirty="0"/>
              <a:t>Regex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SN" sz="2800" dirty="0"/>
              <a:t>Messages d’erreurs/succès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FFA47D-62B0-4FEC-9860-B98030980FD7}"/>
              </a:ext>
            </a:extLst>
          </p:cNvPr>
          <p:cNvSpPr/>
          <p:nvPr/>
        </p:nvSpPr>
        <p:spPr>
          <a:xfrm>
            <a:off x="981798" y="6153485"/>
            <a:ext cx="8483936" cy="1656082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441945A-2640-45D4-B42C-B46F524B272D}"/>
              </a:ext>
            </a:extLst>
          </p:cNvPr>
          <p:cNvSpPr txBox="1"/>
          <p:nvPr/>
        </p:nvSpPr>
        <p:spPr>
          <a:xfrm>
            <a:off x="1117600" y="6394579"/>
            <a:ext cx="82057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b="1" dirty="0"/>
              <a:t>EXEMPLE COURT</a:t>
            </a:r>
            <a:r>
              <a:rPr lang="fr-SN" dirty="0"/>
              <a:t>: </a:t>
            </a:r>
            <a:r>
              <a:rPr lang="fr-SN" b="0" dirty="0">
                <a:effectLst/>
                <a:latin typeface="Consolas" panose="020B0609020204030204" pitchFamily="49" charset="0"/>
              </a:rPr>
              <a:t>if(localStorage.getItem("theme") === "light"){</a:t>
            </a:r>
          </a:p>
          <a:p>
            <a:br>
              <a:rPr lang="fr-SN" b="0" dirty="0">
                <a:effectLst/>
                <a:latin typeface="Consolas" panose="020B0609020204030204" pitchFamily="49" charset="0"/>
              </a:rPr>
            </a:br>
            <a:r>
              <a:rPr lang="fr-SN" b="0" dirty="0">
                <a:effectLst/>
                <a:latin typeface="Consolas" panose="020B0609020204030204" pitchFamily="49" charset="0"/>
              </a:rPr>
              <a:t>    </a:t>
            </a:r>
            <a:r>
              <a:rPr lang="fr-SN" b="0" dirty="0" err="1">
                <a:effectLst/>
                <a:latin typeface="Consolas" panose="020B0609020204030204" pitchFamily="49" charset="0"/>
              </a:rPr>
              <a:t>document.body.classList.add</a:t>
            </a:r>
            <a:r>
              <a:rPr lang="fr-SN" b="0" dirty="0">
                <a:effectLst/>
                <a:latin typeface="Consolas" panose="020B0609020204030204" pitchFamily="49" charset="0"/>
              </a:rPr>
              <a:t>("light-mode");</a:t>
            </a:r>
          </a:p>
          <a:p>
            <a:r>
              <a:rPr lang="fr-SN" b="0" dirty="0">
                <a:effectLst/>
                <a:latin typeface="Consolas" panose="020B0609020204030204" pitchFamily="49" charset="0"/>
              </a:rPr>
              <a:t> themeToggle.innerHTML = "☀️";}</a:t>
            </a:r>
          </a:p>
          <a:p>
            <a:br>
              <a:rPr lang="fr-S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fr-SN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15096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ASPECT TECHNIQUE:CSS ET BOOSTRAP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1C8BAC1-195A-40BC-BAD4-4B66464D76EC}"/>
              </a:ext>
            </a:extLst>
          </p:cNvPr>
          <p:cNvSpPr/>
          <p:nvPr/>
        </p:nvSpPr>
        <p:spPr>
          <a:xfrm>
            <a:off x="298752" y="1879601"/>
            <a:ext cx="12434286" cy="5638800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30FE14E-6E11-4789-9E45-3E4A2A30677F}"/>
              </a:ext>
            </a:extLst>
          </p:cNvPr>
          <p:cNvSpPr txBox="1"/>
          <p:nvPr/>
        </p:nvSpPr>
        <p:spPr>
          <a:xfrm>
            <a:off x="822855" y="2150533"/>
            <a:ext cx="1138607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COMPOSANTS BOOSTRAP UTILISE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NAVBAR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CARDS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CAROUSSEL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MODAL GRID SYSTÈME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BUTTONS</a:t>
            </a:r>
          </a:p>
          <a:p>
            <a:r>
              <a:rPr lang="fr-SN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AVANCE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FLEXBOX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GRID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TRANSITION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HOVER EFFECTS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SN" sz="2000" dirty="0"/>
              <a:t>ANIMATION DADE-IN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300731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GESTION DU PROJET AVEC GITHUB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1C8BAC1-195A-40BC-BAD4-4B66464D76EC}"/>
              </a:ext>
            </a:extLst>
          </p:cNvPr>
          <p:cNvSpPr/>
          <p:nvPr/>
        </p:nvSpPr>
        <p:spPr>
          <a:xfrm>
            <a:off x="298751" y="3793067"/>
            <a:ext cx="3849915" cy="3725334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379C666-65DC-4F15-BF94-024241485354}"/>
              </a:ext>
            </a:extLst>
          </p:cNvPr>
          <p:cNvSpPr txBox="1"/>
          <p:nvPr/>
        </p:nvSpPr>
        <p:spPr>
          <a:xfrm>
            <a:off x="555774" y="4070684"/>
            <a:ext cx="33358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GIT</a:t>
            </a:r>
          </a:p>
          <a:p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status</a:t>
            </a:r>
          </a:p>
          <a:p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.</a:t>
            </a:r>
          </a:p>
          <a:p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commit –m ‘’ message ‘’</a:t>
            </a:r>
          </a:p>
          <a:p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push origin main 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52042E8-025C-4339-8A14-62C0652A7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399" y="2012951"/>
            <a:ext cx="8644661" cy="576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DIFFICULTE RENCONTRES ET SOLUTION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1C8BAC1-195A-40BC-BAD4-4B66464D76EC}"/>
              </a:ext>
            </a:extLst>
          </p:cNvPr>
          <p:cNvSpPr/>
          <p:nvPr/>
        </p:nvSpPr>
        <p:spPr>
          <a:xfrm>
            <a:off x="298752" y="2012951"/>
            <a:ext cx="12434286" cy="5505450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905BBCD-9D92-4EEB-A40D-BA27942DEDBB}"/>
              </a:ext>
            </a:extLst>
          </p:cNvPr>
          <p:cNvSpPr txBox="1"/>
          <p:nvPr/>
        </p:nvSpPr>
        <p:spPr>
          <a:xfrm>
            <a:off x="801858" y="2391508"/>
            <a:ext cx="11479237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DIFFICULTE 1</a:t>
            </a:r>
            <a:endParaRPr lang="fr-SN" sz="3600" dirty="0"/>
          </a:p>
          <a:p>
            <a:r>
              <a:rPr lang="fr-SN" dirty="0"/>
              <a:t>Le validateur W3C signalait plusieurs erreurs: balises &lt;div&gt; non fermé; section sans titre; erreur sur les iframe...</a:t>
            </a:r>
          </a:p>
          <a:p>
            <a:r>
              <a:rPr lang="fr-S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95000"/>
                  </a:schemeClr>
                </a:solidFill>
              </a:rPr>
              <a:t>-Vérification complète de la structure HTML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95000"/>
                  </a:schemeClr>
                </a:solidFill>
              </a:rPr>
              <a:t>-Fermeture correcte de toutes les balises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95000"/>
                  </a:schemeClr>
                </a:solidFill>
              </a:rPr>
              <a:t>-Ajout des titres manquants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95000"/>
                  </a:schemeClr>
                </a:solidFill>
              </a:rPr>
              <a:t>-Correction des attributs invalides</a:t>
            </a:r>
          </a:p>
          <a:p>
            <a:r>
              <a:rPr lang="fr-FR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DIFFICULTE 2</a:t>
            </a:r>
          </a:p>
          <a:p>
            <a:pPr marL="0" indent="0">
              <a:buNone/>
            </a:pPr>
            <a:r>
              <a:rPr lang="fr-FR" dirty="0"/>
              <a:t>Lors de l'</a:t>
            </a:r>
            <a:r>
              <a:rPr lang="fr-FR" sz="1800" dirty="0"/>
              <a:t>activation du mode sombre, certaines écritures devenaient invisibles car elles restaient blanches sur fond clair ou noires sur fond sombre.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95000"/>
                  </a:schemeClr>
                </a:solidFill>
              </a:rPr>
              <a:t>-Création d’une classe css dark mode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95000"/>
                  </a:schemeClr>
                </a:solidFill>
              </a:rPr>
              <a:t>-Modification des couleurs des textes et arrières- plans</a:t>
            </a:r>
          </a:p>
          <a:p>
            <a:pPr marL="0" indent="0">
              <a:buNone/>
            </a:pPr>
            <a:r>
              <a:rPr lang="fr-FR" sz="1800" dirty="0">
                <a:solidFill>
                  <a:schemeClr val="tx1">
                    <a:lumMod val="95000"/>
                  </a:schemeClr>
                </a:solidFill>
              </a:rPr>
              <a:t>-Utilisation de Localstorage pour conserver le thème choisi même après changement ce page</a:t>
            </a:r>
          </a:p>
          <a:p>
            <a:pPr marL="0" indent="0">
              <a:buNone/>
            </a:pPr>
            <a:endParaRPr lang="fr-FR" sz="1800" dirty="0">
              <a:solidFill>
                <a:schemeClr val="tx1">
                  <a:lumMod val="95000"/>
                </a:schemeClr>
              </a:solidFill>
            </a:endParaRPr>
          </a:p>
          <a:p>
            <a:endParaRPr lang="fr-SN" dirty="0"/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05780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RESSOURCES UTILISE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1C8BAC1-195A-40BC-BAD4-4B66464D76EC}"/>
              </a:ext>
            </a:extLst>
          </p:cNvPr>
          <p:cNvSpPr/>
          <p:nvPr/>
        </p:nvSpPr>
        <p:spPr>
          <a:xfrm>
            <a:off x="298751" y="2012951"/>
            <a:ext cx="12434286" cy="5505450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905BBCD-9D92-4EEB-A40D-BA27942DEDBB}"/>
              </a:ext>
            </a:extLst>
          </p:cNvPr>
          <p:cNvSpPr txBox="1"/>
          <p:nvPr/>
        </p:nvSpPr>
        <p:spPr>
          <a:xfrm>
            <a:off x="801857" y="2391508"/>
            <a:ext cx="1147923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-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MDN Web Docs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-Bootstrap Documentation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-W3Schools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-Validator W3C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-CHAT GPT</a:t>
            </a:r>
          </a:p>
          <a:p>
            <a:r>
              <a:rPr lang="en-US" sz="4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OUTILS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-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VS code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-GitHub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-GitHub pages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-POWER point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455843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DU SITE AFRITALENT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1C8BAC1-195A-40BC-BAD4-4B66464D76EC}"/>
              </a:ext>
            </a:extLst>
          </p:cNvPr>
          <p:cNvSpPr/>
          <p:nvPr/>
        </p:nvSpPr>
        <p:spPr>
          <a:xfrm>
            <a:off x="298751" y="2012951"/>
            <a:ext cx="12434286" cy="5505450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905BBCD-9D92-4EEB-A40D-BA27942DEDBB}"/>
              </a:ext>
            </a:extLst>
          </p:cNvPr>
          <p:cNvSpPr txBox="1"/>
          <p:nvPr/>
        </p:nvSpPr>
        <p:spPr>
          <a:xfrm>
            <a:off x="801857" y="2391508"/>
            <a:ext cx="11479237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Parcours utilisateur</a:t>
            </a:r>
          </a:p>
          <a:p>
            <a:pPr marL="0" indent="0">
              <a:buNone/>
            </a:pPr>
            <a:r>
              <a:rPr lang="en-US" sz="1800" dirty="0"/>
              <a:t>-</a:t>
            </a:r>
            <a:r>
              <a:rPr lang="en-US" sz="2000" dirty="0"/>
              <a:t>Presentation de la plateforme</a:t>
            </a:r>
          </a:p>
          <a:p>
            <a:pPr marL="0" indent="0">
              <a:buNone/>
            </a:pPr>
            <a:r>
              <a:rPr lang="en-US" sz="2000" dirty="0"/>
              <a:t>-Statistiques animés </a:t>
            </a:r>
          </a:p>
          <a:p>
            <a:pPr marL="0" indent="0">
              <a:buNone/>
            </a:pPr>
            <a:r>
              <a:rPr lang="en-US" sz="2000" dirty="0"/>
              <a:t>-Témoignages clients</a:t>
            </a:r>
          </a:p>
          <a:p>
            <a:r>
              <a:rPr lang="en-US" sz="3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Consultation des FREELANCES</a:t>
            </a:r>
          </a:p>
          <a:p>
            <a:pPr marL="0" indent="0">
              <a:buNone/>
            </a:pPr>
            <a:r>
              <a:rPr lang="en-US" sz="1800" dirty="0"/>
              <a:t>-</a:t>
            </a:r>
            <a:r>
              <a:rPr lang="en-US" sz="2000" dirty="0"/>
              <a:t>Affichage des profils</a:t>
            </a:r>
          </a:p>
          <a:p>
            <a:pPr marL="0" indent="0">
              <a:buNone/>
            </a:pPr>
            <a:r>
              <a:rPr lang="en-US" sz="2000" dirty="0"/>
              <a:t>-Consultation des compétences</a:t>
            </a:r>
          </a:p>
          <a:p>
            <a:r>
              <a:rPr lang="en-US" sz="3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Filtrage des FREELANCES</a:t>
            </a:r>
          </a:p>
          <a:p>
            <a:pPr marL="0" indent="0">
              <a:buNone/>
            </a:pPr>
            <a:r>
              <a:rPr lang="en-US" sz="1900" dirty="0"/>
              <a:t>-Séléction d’une catégorie</a:t>
            </a:r>
          </a:p>
          <a:p>
            <a:pPr marL="0" indent="0">
              <a:buNone/>
            </a:pPr>
            <a:r>
              <a:rPr lang="en-US" sz="1900" dirty="0"/>
              <a:t>-Affichage des profils correspondants</a:t>
            </a:r>
          </a:p>
          <a:p>
            <a:r>
              <a:rPr lang="en-US" sz="3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Formulaire de Contact</a:t>
            </a:r>
          </a:p>
          <a:p>
            <a:pPr marL="0" indent="0">
              <a:buNone/>
            </a:pPr>
            <a:r>
              <a:rPr lang="en-US" sz="2400" dirty="0"/>
              <a:t>-</a:t>
            </a:r>
            <a:r>
              <a:rPr lang="en-US" sz="2000" dirty="0"/>
              <a:t>Saisie les informations</a:t>
            </a:r>
          </a:p>
          <a:p>
            <a:pPr marL="0" indent="0">
              <a:buNone/>
            </a:pPr>
            <a:r>
              <a:rPr lang="en-US" sz="2000" dirty="0"/>
              <a:t>-Vérification des erreurs</a:t>
            </a:r>
          </a:p>
          <a:p>
            <a:pPr marL="0" indent="0">
              <a:buNone/>
            </a:pPr>
            <a:r>
              <a:rPr lang="en-US" sz="2000" dirty="0"/>
              <a:t>-Messages de succès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4265406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580E2E-1122-4C7B-9642-59580B85A386}"/>
              </a:ext>
            </a:extLst>
          </p:cNvPr>
          <p:cNvSpPr txBox="1"/>
          <p:nvPr/>
        </p:nvSpPr>
        <p:spPr>
          <a:xfrm>
            <a:off x="298751" y="73959"/>
            <a:ext cx="12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1C8BAC1-195A-40BC-BAD4-4B66464D76EC}"/>
              </a:ext>
            </a:extLst>
          </p:cNvPr>
          <p:cNvSpPr/>
          <p:nvPr/>
        </p:nvSpPr>
        <p:spPr>
          <a:xfrm>
            <a:off x="298751" y="2012951"/>
            <a:ext cx="12434286" cy="5505450"/>
          </a:xfrm>
          <a:prstGeom prst="roundRect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905BBCD-9D92-4EEB-A40D-BA27942DEDBB}"/>
              </a:ext>
            </a:extLst>
          </p:cNvPr>
          <p:cNvSpPr txBox="1"/>
          <p:nvPr/>
        </p:nvSpPr>
        <p:spPr>
          <a:xfrm>
            <a:off x="1182857" y="3001108"/>
            <a:ext cx="114792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COMPETENCES ACQUISES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/>
              <a:t>HTML 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/>
              <a:t>CSS 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/>
              <a:t>BOOTSTRAP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/>
              <a:t>JAVASCRIPT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/>
              <a:t>GIT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/>
              <a:t>GitHub</a:t>
            </a:r>
          </a:p>
          <a:p>
            <a:r>
              <a:rPr lang="en-US" sz="28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RESULTAT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</a:rPr>
              <a:t>Création d’un site Web responsive et fonctionnel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676987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2190</TotalTime>
  <Words>501</Words>
  <Application>Microsoft Office PowerPoint</Application>
  <PresentationFormat>Personnalisé</PresentationFormat>
  <Paragraphs>144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Algerian</vt:lpstr>
      <vt:lpstr>Arial</vt:lpstr>
      <vt:lpstr>Calibri</vt:lpstr>
      <vt:lpstr>Calibri Light</vt:lpstr>
      <vt:lpstr>Consolas</vt:lpstr>
      <vt:lpstr>Times New Roman</vt:lpstr>
      <vt:lpstr>Wingdings</vt:lpstr>
      <vt:lpstr>Thème Office</vt:lpstr>
      <vt:lpstr>Présentation PowerPoint</vt:lpstr>
      <vt:lpstr>AFRITALENT</vt:lpstr>
      <vt:lpstr>SOMMAIRE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bvefa06@gmail.com</dc:creator>
  <cp:lastModifiedBy>bvefa06@gmail.com</cp:lastModifiedBy>
  <cp:revision>77</cp:revision>
  <dcterms:created xsi:type="dcterms:W3CDTF">2026-06-14T21:54:21Z</dcterms:created>
  <dcterms:modified xsi:type="dcterms:W3CDTF">2026-06-21T23:50:38Z</dcterms:modified>
</cp:coreProperties>
</file>